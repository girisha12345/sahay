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EA5E9"/>
                </a:solidFill>
                <a:latin typeface="Trebuchet MS"/>
              </a:defRPr>
            </a:pPr>
            <a:r>
              <a:t>SAHAY</a:t>
            </a:r>
          </a:p>
          <a:p>
            <a:pPr>
              <a:spcBef>
                <a:spcPts val="1000"/>
              </a:spcBef>
              <a:spcAft>
                <a:spcPts val="4000"/>
              </a:spcAft>
              <a:defRPr sz="2400" b="1">
                <a:solidFill>
                  <a:srgbClr val="F1F5F9"/>
                </a:solidFill>
                <a:latin typeface="Trebuchet MS"/>
              </a:defRPr>
            </a:pPr>
            <a:r>
              <a:t>Role-Based Full-Stack Marketplace Platform for Local Services</a:t>
            </a:r>
          </a:p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Midterm Project Review Presentation</a:t>
            </a:r>
          </a:p>
          <a:p>
            <a:pPr>
              <a:spcBef>
                <a:spcPts val="15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Academic Component: Core Project (Second Semester) | AY 2025 - 2026</a:t>
            </a:r>
            <a:br/>
            <a:r>
              <a:t>Under the Guidance of: Dr. Setturu Bharath &amp; Dr. Hariprasad M (MSc)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MIDTERM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Trebuchet MS"/>
              </a:defRPr>
            </a:pPr>
            <a:r>
              <a:t>The Local Services Coordination Gap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Traditional local service exchanges (cleaning, plumbing, repairs) depend heavily on informal, fragmented channels like phone calls, WhatsApp group chats, and unverified word-of-mouth referrals. This manual system results in severe structural deficiencies for both consumers and operators.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Trebuchet MS"/>
              </a:defRPr>
            </a:pPr>
            <a:r>
              <a:t>Trust &amp; Verification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Lack of consistent provider screening and verification leads to safety and quality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8892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83463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Trebuchet MS"/>
              </a:defRPr>
            </a:pPr>
            <a:r>
              <a:t>Opaque Pricing &amp; Commissions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No standardized billing or transparent platform fee tracking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97763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Trebuchet MS"/>
              </a:defRPr>
            </a:pPr>
            <a:r>
              <a:t>Booking &amp; Schedule Collisions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Manual scheduling creates overlaps and service delivery delays.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7492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Trebuchet MS"/>
              </a:defRPr>
            </a:pPr>
            <a:r>
              <a:t>No Structured Support Channel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Absence of support ticketing leaves disputes unresolved.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MIDTERM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Sahay: Platform Vision &amp; Core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EA5E9"/>
                </a:solidFill>
                <a:latin typeface="Trebuchet MS"/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Trust &amp; Security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Implement strict Role-Based Access Control (RBAC) and state-level verification checks for providers to ensure platform safety.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EA5E9"/>
                </a:solidFill>
                <a:latin typeface="Trebuchet MS"/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End-to-End Fulfilment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Provide a frictionless booking journey from service discovery to checkout, payment settlement, and review loops.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EA5E9"/>
                </a:solidFill>
                <a:latin typeface="Trebuchet MS"/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Realtime Operations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Leverage WebSockets for instant user-to-provider chat and immediate in-app notifications during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MIDTERM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System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Trebuchet MS"/>
              </a:rPr>
              <a:t>Frontend Layer:  </a:t>
            </a:r>
            <a:r>
              <a:rPr sz="1400" b="1">
                <a:solidFill>
                  <a:srgbClr val="1E293B"/>
                </a:solidFill>
                <a:latin typeface="Calibri"/>
              </a:rPr>
              <a:t>React 19, TypeScript, Vite, Tailwind CSS, Zustand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Role-aware SPA with active store state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Trebuchet MS"/>
              </a:rPr>
              <a:t>Backend Layer:  </a:t>
            </a:r>
            <a:r>
              <a:rPr sz="1400" b="1">
                <a:solidFill>
                  <a:srgbClr val="1E293B"/>
                </a:solidFill>
                <a:latin typeface="Calibri"/>
              </a:rPr>
              <a:t>Python, Django, Django REST Framework, SimpleJWT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Modular monolith API engine implementing Django 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2335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Trebuchet MS"/>
              </a:rPr>
              <a:t>Realtime &amp; Channels:  </a:t>
            </a:r>
            <a:r>
              <a:rPr sz="1400" b="1">
                <a:solidFill>
                  <a:srgbClr val="1E293B"/>
                </a:solidFill>
                <a:latin typeface="Calibri"/>
              </a:rPr>
              <a:t>Django Channels, WebSockets, Redis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Real-time communication backing and messaging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16635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Trebuchet MS"/>
              </a:rPr>
              <a:t>Data &amp; Infrastructure:  </a:t>
            </a:r>
            <a:r>
              <a:rPr sz="1400" b="1">
                <a:solidFill>
                  <a:srgbClr val="1E293B"/>
                </a:solidFill>
                <a:latin typeface="Calibri"/>
              </a:rPr>
              <a:t>PostgreSQL, Docker, Gunicorn, Uvicorn Workers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Transactional database persistence and ASGI container runtime.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MIDTERM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User Roles &amp; Operational 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Trebuchet MS"/>
              </a:defRPr>
            </a:pPr>
            <a:r>
              <a:t>Customer Role</a:t>
            </a:r>
          </a:p>
          <a:p>
            <a:pPr>
              <a:spcAft>
                <a:spcPts val="1400"/>
              </a:spcAft>
              <a:defRPr sz="1200">
                <a:solidFill>
                  <a:srgbClr val="0EA5E9"/>
                </a:solidFill>
                <a:latin typeface="Calibri"/>
              </a:defRPr>
            </a:pPr>
            <a:r>
              <a:t>Dashboard `/customer/dashboard`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Discover local services via category/search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Create bookings, schedule appointments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Complete payments securely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Real-time chat &amp; review provider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Trebuchet MS"/>
              </a:defRPr>
            </a:pPr>
            <a:r>
              <a:t>Provider Role</a:t>
            </a:r>
          </a:p>
          <a:p>
            <a:pPr>
              <a:spcAft>
                <a:spcPts val="1400"/>
              </a:spcAft>
              <a:defRPr sz="1200">
                <a:solidFill>
                  <a:srgbClr val="0EA5E9"/>
                </a:solidFill>
                <a:latin typeface="Calibri"/>
              </a:defRPr>
            </a:pPr>
            <a:r>
              <a:t>Dashboard `/provider/dashboard`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Configure active service catalog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Toggle provider availability controls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Accept/reject incoming customer bookings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Track earnings &amp; wallet ledger updates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Trebuchet MS"/>
              </a:defRPr>
            </a:pPr>
            <a:r>
              <a:t>Platform Governance</a:t>
            </a:r>
          </a:p>
          <a:p>
            <a:pPr>
              <a:spcAft>
                <a:spcPts val="1400"/>
              </a:spcAft>
              <a:defRPr sz="1200">
                <a:solidFill>
                  <a:srgbClr val="0EA5E9"/>
                </a:solidFill>
                <a:latin typeface="Calibri"/>
              </a:defRPr>
            </a:pPr>
            <a:r>
              <a:t>Support &amp; Admin Dashboards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Support Agent: Handle support ticket queue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Admin: Monitor system revenue analytics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Verify new provider profiles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Review flagged messages in chat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MIDTERM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Key Business Workflows &amp; State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State Machine &amp; Integrity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• Booking State Lifecycle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Traces bookings from PENDING_PAYMENT -&gt; CONFIRMED -&gt; IN_PROGRESS -&gt; COMPLETED, handling CANCELLED &amp; DISPUTED workflows.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• Auditable Wallet Ledger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Tied directly to booking outcomes; records earnings with commission splits automatically subtracted.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• Fail-safe Checks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Role permission verification checks at API entry prevent state manipulation across actors.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Trebuchet MS"/>
              </a:defRPr>
            </a:pPr>
            <a:r>
              <a:t>Realtime Communication &amp; Safety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• Active WebSocket Connection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Enables reactive in-app notifications and real-time chat scoped strictly to booking instances.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• Automated Moderation Guardrails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Server-side regex screening logs and flags messages containing private phone numbers or email patterns to prevent direct off-platform transactions.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• Unified API Layer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Stores token persistence and standardizes client error reporting to ensure a solid user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MIDTERM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Engineering Challenges &amp;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917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24003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F46E5"/>
                </a:solidFill>
                <a:latin typeface="Trebuchet MS"/>
              </a:defRPr>
            </a:pPr>
            <a:r>
              <a:t>Evolving API Contracts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Challenge: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Rapid iterative updates caused frontend state mismatches.</a:t>
            </a:r>
          </a:p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Mitigation: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Introduced strict typescript models, fallback layers, and structured API response normalization.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6139" y="1645920"/>
            <a:ext cx="24917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1859" y="1737360"/>
            <a:ext cx="24003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F46E5"/>
                </a:solidFill>
                <a:latin typeface="Trebuchet MS"/>
              </a:defRPr>
            </a:pPr>
            <a:r>
              <a:t>Legacy Provider Migration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Challenge: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Transitioning screens from static mockup pages to live backend endpoints.</a:t>
            </a:r>
          </a:p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Mitigation: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Cleaned out components in provider views to read fields directly from serialized Django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645920"/>
            <a:ext cx="24917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9" y="1737360"/>
            <a:ext cx="24003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F46E5"/>
                </a:solidFill>
                <a:latin typeface="Trebuchet MS"/>
              </a:defRPr>
            </a:pPr>
            <a:r>
              <a:t>State Isolation &amp; RBAC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Challenge: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Ensuring users couldn't cross boundaries to manipulate records.</a:t>
            </a:r>
          </a:p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Mitigation: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Deployed JWT token verification coupled with Django model permission checking on the server 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5380" y="1645920"/>
            <a:ext cx="24917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1100" y="1737360"/>
            <a:ext cx="24003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F46E5"/>
                </a:solidFill>
                <a:latin typeface="Trebuchet MS"/>
              </a:defRPr>
            </a:pPr>
            <a:r>
              <a:t>WebSocket Integrity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Challenge: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Handling reconnect issues and authenticating asynchronous ASGI pipelines.</a:t>
            </a:r>
          </a:p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Mitigation: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Standardized custom authentication handlers in Django Channels middleware for stable WebSocket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CONCLUSION &amp; VIVA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Trebuchet MS"/>
              </a:defRPr>
            </a:pPr>
            <a:r>
              <a:t>Current Status &amp; Future Roadmaps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Trebuchet MS"/>
              </a:defRPr>
            </a:pPr>
            <a:r>
              <a:t>Midterm Achievements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✓  Fully operational client-side &amp; server-side role separation.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✓  Live provider management screens (no stub data placeholders remaining).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✓  Functional booking state machine with payments matching order tracking.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✓  Real-time messaging channels and auto-moderation logging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Trebuchet MS"/>
              </a:defRPr>
            </a:pPr>
            <a:r>
              <a:t>Remaining Project Scope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→  Expand backend test coverage for edge case booking transitions.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→  Integrate platform logging &amp; observability dashboards.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→  Refine user interface aesthetics, accessibility, &amp; load speed profiles.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→  Hardening CI/CD deployments and documentation matrices.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